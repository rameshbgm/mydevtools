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914400"/>
            <a:ext cx="5029200" cy="5029200"/>
          </a:xfrm>
          <a:prstGeom prst="ellipse">
            <a:avLst/>
          </a:prstGeom>
          <a:solidFill>
            <a:srgbClr val="2E3F8F">
              <a:alpha val="45000"/>
            </a:srgbClr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371600"/>
            <a:ext cx="3474720" cy="347472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194560" cy="329184"/>
          </a:xfrm>
          <a:prstGeom prst="roundRect">
            <a:avLst>
              <a:gd name="adj" fmla="val 13889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PRODUCT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051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Tool.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84048" y="27889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context-switching and productivity drain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engineering teams — 90 tools, zero data exposure.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3977640"/>
            <a:ext cx="1920240" cy="822960"/>
          </a:xfrm>
          <a:prstGeom prst="rect">
            <a:avLst/>
          </a:prstGeom>
          <a:solidFill>
            <a:srgbClr val="2E3F8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90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4048" y="4407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F"/>
                </a:solidFill>
              </a:rPr>
              <a:t>Tools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78608" y="3977640"/>
            <a:ext cx="1920240" cy="822960"/>
          </a:xfrm>
          <a:prstGeom prst="rect">
            <a:avLst/>
          </a:prstGeom>
          <a:solidFill>
            <a:srgbClr val="2E3F8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13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78608" y="4407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F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73168" y="3977640"/>
            <a:ext cx="1920240" cy="822960"/>
          </a:xfrm>
          <a:prstGeom prst="rect">
            <a:avLst/>
          </a:prstGeom>
          <a:solidFill>
            <a:srgbClr val="2E3F8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100%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73168" y="4407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F"/>
                </a:solidFill>
              </a:rPr>
              <a:t>Client-Side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498080" y="914400"/>
            <a:ext cx="1280160" cy="1280160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8046720" y="23774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4444"/>
                </a:solidFill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Productivity Is Quietly Leaking Away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8FF"/>
                </a:solidFill>
              </a:rPr>
              <a:t>Every day, engineers leave their flow state to hunt across dozens of scattered web tools.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920240"/>
            <a:ext cx="2651760" cy="2606040"/>
          </a:xfrm>
          <a:prstGeom prst="rect">
            <a:avLst/>
          </a:prstGeom>
          <a:solidFill>
            <a:srgbClr val="1E2761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02996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5146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Context-Switching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999232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8FF"/>
                </a:solidFill>
              </a:rPr>
              <a:t>Engineers toggle between 15+ different websites daily — each one with its own UI, ads, and distractions.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82112" y="1920240"/>
            <a:ext cx="2651760" cy="2606040"/>
          </a:xfrm>
          <a:prstGeom prst="rect">
            <a:avLst/>
          </a:prstGeom>
          <a:solidFill>
            <a:srgbClr val="1E2761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202996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5146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Blind Spots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91840" y="2999232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8FF"/>
                </a:solidFill>
              </a:rPr>
              <a:t>Sensitive data — API keys, certificates, credentials — is routinely pasted into third-party, ad-supported websites.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16752" y="1920240"/>
            <a:ext cx="2651760" cy="2606040"/>
          </a:xfrm>
          <a:prstGeom prst="rect">
            <a:avLst/>
          </a:prstGeom>
          <a:solidFill>
            <a:srgbClr val="1E2761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02996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251460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Dead Zones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26480" y="2999232"/>
            <a:ext cx="2432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8FF"/>
                </a:solidFill>
              </a:rPr>
              <a:t>Travel, restricted networks, or outages leave engineers without their essential tooling — halting productivity.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2E3F8F"/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65760" y="4709160"/>
            <a:ext cx="8412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E8FF"/>
                </a:solidFill>
              </a:rPr>
              <a:t>Studies show developers lose up to 23 minutes of deep focus after every context switch — and most switch tools dozens of times per day.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THE COST OF FRAGMENTATION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Scattered Tooling Is Costing Your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13716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37160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84632" y="235915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of engineering time is non-productive — interrupted, waiting, or context-switching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82112" y="13716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82112" y="137160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55448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min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19272" y="235915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lost to regain focus after each tool switch — compounding hourly across teams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16752" y="137160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16752" y="1371600"/>
            <a:ext cx="265176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5448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control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53912" y="235915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</a:rPr>
              <a:t>over data privacy when using ad-supported third-party browser tools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8430768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062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These aren't technical problems — they are business problems. Lost focus, data risk, and team inefficiency all trace back to fragmented tooling.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731520"/>
            <a:ext cx="4754880" cy="4754880"/>
          </a:xfrm>
          <a:prstGeom prst="ellipse">
            <a:avLst/>
          </a:prstGeom>
          <a:solidFill>
            <a:srgbClr val="2E3F8F">
              <a:alpha val="40000"/>
            </a:srgbClr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371600"/>
            <a:ext cx="3200400" cy="3200400"/>
          </a:xfrm>
          <a:prstGeom prst="ellipse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62179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mydevtools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84048" y="1353312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D6E8FF"/>
                </a:solidFill>
              </a:rPr>
              <a:t>A unified, offline-capable developer workspace</a:t>
            </a:r>
            <a:endParaRPr lang="en-US" sz="15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D6E8FF"/>
                </a:solidFill>
              </a:rPr>
              <a:t>that eliminates tool sprawl and keeps sensitive data where it belongs — in your browser.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340864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22860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90 tools in one place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2688" y="2560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F"/>
                </a:solidFill>
              </a:rPr>
              <a:t>Format, validate, encrypt, convert — all without leaving one tab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9923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29443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Zero data exposure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32688" y="32186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F"/>
                </a:solidFill>
              </a:rPr>
              <a:t>Everything runs in the browser. No server, no logs, no leaks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65760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2688" y="36027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Instant, always available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32688" y="38770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F"/>
                </a:solidFill>
              </a:rPr>
              <a:t>Works offline. No latency. No ads. No interruptions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31596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2688" y="426110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Every device, every screen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32688" y="45354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8FF"/>
                </a:solidFill>
              </a:rPr>
              <a:t>Installable as a PWA on desktop, tablet, and mobile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7315200" y="137160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FULL COVERAGE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Categories. 90 Tools. One Workspace.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188720"/>
            <a:ext cx="166420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188720"/>
            <a:ext cx="50292" cy="6766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 tools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0" y="1188720"/>
            <a:ext cx="166420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0" y="1188720"/>
            <a:ext cx="50292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0552" y="126187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30552" y="15361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8 tools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30752" y="1188720"/>
            <a:ext cx="166420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30752" y="1188720"/>
            <a:ext cx="50292" cy="67665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9624" y="126187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&amp; Compare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9624" y="15361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3 tools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9824" y="1188720"/>
            <a:ext cx="166420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9824" y="1188720"/>
            <a:ext cx="50292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68696" y="126187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Converters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68696" y="15361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 tools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68896" y="1188720"/>
            <a:ext cx="166420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68896" y="1188720"/>
            <a:ext cx="50292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87768" y="126187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Decoding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87768" y="15361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 tools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" y="1920240"/>
            <a:ext cx="166420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1920240"/>
            <a:ext cx="50292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99339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226771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8 tools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0" y="1920240"/>
            <a:ext cx="166420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0" y="1920240"/>
            <a:ext cx="50292" cy="6766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30552" y="199339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&amp; Keys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130552" y="226771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12 tools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30752" y="1920240"/>
            <a:ext cx="166420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30752" y="1920240"/>
            <a:ext cx="50292" cy="67665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9624" y="199339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Web Services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49624" y="226771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6 tools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49824" y="1920240"/>
            <a:ext cx="166420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49824" y="1920240"/>
            <a:ext cx="50292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68696" y="199339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568696" y="226771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3 tools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168896" y="1920240"/>
            <a:ext cx="166420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68896" y="1920240"/>
            <a:ext cx="50292" cy="6766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87768" y="199339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287768" y="226771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9 tools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92608" y="2651760"/>
            <a:ext cx="166420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92608" y="2651760"/>
            <a:ext cx="50292" cy="676656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272491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Utilities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11480" y="299923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11 tools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011680" y="2651760"/>
            <a:ext cx="166420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011680" y="2651760"/>
            <a:ext cx="50292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30552" y="272491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Alpha Tools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130552" y="299923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3 tools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730752" y="2651760"/>
            <a:ext cx="166420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730752" y="2651760"/>
            <a:ext cx="50292" cy="6766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9624" y="2724912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849624" y="299923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5 tools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WHY IT WINS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Real-World Engineering Environments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75488" cy="475488"/>
          </a:xfrm>
          <a:prstGeom prst="ellipse">
            <a:avLst/>
          </a:prstGeom>
          <a:solidFill>
            <a:srgbClr val="2E3F8F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350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2893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Privacy by Architecture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8992" y="1554480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8FF"/>
                </a:solidFill>
              </a:rPr>
              <a:t>No API calls, no analytics, no cookies. Sensitive data never leaves the machine — designed to meet the strictest enterprise data policies.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2176272"/>
            <a:ext cx="475488" cy="475488"/>
          </a:xfrm>
          <a:prstGeom prst="ellipse">
            <a:avLst/>
          </a:prstGeom>
          <a:solidFill>
            <a:srgbClr val="2E3F8F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23113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1854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Zero Dependency on Internet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78992" y="245059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8FF"/>
                </a:solidFill>
              </a:rPr>
              <a:t>After first load, mydevtools works entirely offline. Engineers in secure facilities, on planes, or behind strict firewalls remain fully productive.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11480" y="3072384"/>
            <a:ext cx="475488" cy="475488"/>
          </a:xfrm>
          <a:prstGeom prst="ellipse">
            <a:avLst/>
          </a:prstGeom>
          <a:solidFill>
            <a:srgbClr val="2E3F8F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1272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30815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Instant Search Across All Tools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78992" y="3346704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8FF"/>
                </a:solidFill>
              </a:rPr>
              <a:t>A unified command palette lets engineers find any tool in two keystrokes — no navigation, no bookmarks, no memory required.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11480" y="3968496"/>
            <a:ext cx="475488" cy="475488"/>
          </a:xfrm>
          <a:prstGeom prst="ellipse">
            <a:avLst/>
          </a:prstGeom>
          <a:solidFill>
            <a:srgbClr val="2E3F8F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02336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78992" y="3977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AI-Powered Alpha Tooling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78992" y="4242816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8FF"/>
                </a:solidFill>
              </a:rPr>
              <a:t>Early-access AI tools — document Q&amp;A, text summarisation, code explanation — are already embedded and evolving with the product.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BUSINESS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mydevtools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384048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188720"/>
            <a:ext cx="42062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Without mydevtools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With mydevtools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783080"/>
            <a:ext cx="3840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783080"/>
            <a:ext cx="4206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874520"/>
            <a:ext cx="274320" cy="27432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18745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187452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15+ browser tabs open simultaneously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974336" y="187452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One workspace. One tab. Zero switching.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47472" y="2331720"/>
            <a:ext cx="3840480" cy="493776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0" y="2331720"/>
            <a:ext cx="4206240" cy="493776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423160"/>
            <a:ext cx="274320" cy="27432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4231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" y="242316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Credentials pasted into ad-supported sites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974336" y="242316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All processing stays on-device, fully private.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47472" y="2880360"/>
            <a:ext cx="3840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72000" y="2880360"/>
            <a:ext cx="4206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2971800"/>
            <a:ext cx="274320" cy="274320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864" y="297180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49808" y="297180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Tools unavailable offline or behind firewalls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974336" y="297180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Fully functional with no internet connection.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347472" y="3429000"/>
            <a:ext cx="3840480" cy="493776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572000" y="3429000"/>
            <a:ext cx="4206240" cy="493776"/>
          </a:xfrm>
          <a:prstGeom prst="rect">
            <a:avLst/>
          </a:prstGeom>
          <a:solidFill>
            <a:srgbClr val="F5F8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" y="3520440"/>
            <a:ext cx="274320" cy="274320"/>
          </a:xfrm>
          <a:prstGeom prst="rect">
            <a:avLst/>
          </a:prstGeom>
        </p:spPr>
      </p:pic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864" y="3520440"/>
            <a:ext cx="274320" cy="27432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49808" y="352044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Time wasted searching for the right online tool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4974336" y="352044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Any tool found in under 2 keystrokes.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347472" y="3977640"/>
            <a:ext cx="38404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4572000" y="3977640"/>
            <a:ext cx="4206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336" y="4069080"/>
            <a:ext cx="274320" cy="274320"/>
          </a:xfrm>
          <a:prstGeom prst="rect">
            <a:avLst/>
          </a:prstGeom>
        </p:spPr>
      </p:pic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6864" y="4069080"/>
            <a:ext cx="274320" cy="27432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49808" y="406908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No consistency — different UX everywhere</a:t>
            </a:r>
            <a:endParaRPr lang="en-US" sz="1100" dirty="0"/>
          </a:p>
        </p:txBody>
      </p:sp>
      <p:sp>
        <p:nvSpPr>
          <p:cNvPr id="37" name="Text 25"/>
          <p:cNvSpPr/>
          <p:nvPr/>
        </p:nvSpPr>
        <p:spPr>
          <a:xfrm>
            <a:off x="4974336" y="4069080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Unified design system and dark/light theme.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</a:rPr>
              <a:t>HOW TO GET STARTED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Access. Zero Installation Friction.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mydevtools is available right now — no setup, no licences, no procurement overhead.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572768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0704" y="1664208"/>
            <a:ext cx="530352" cy="53035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1664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3317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29077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Open the Browser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331012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Visit mydevtools.com from any device — Chrome, Safari, Edge, Firefox. It loads instantly.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96312" y="1572768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9544" y="1664208"/>
            <a:ext cx="530352" cy="53035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9544" y="1664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23317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87752" y="29077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Install as an App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587752" y="331012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One tap to add to home screen or taskbar. Works like a native app — even fully offline.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45152" y="1572768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58384" y="1664208"/>
            <a:ext cx="530352" cy="53035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58384" y="1664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23317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36592" y="29077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Find Any Tool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736592" y="331012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Use ⌘K or the header search to jump to any of the 90 tools in seconds.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793992" y="1572768"/>
            <a:ext cx="1965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507224" y="1664208"/>
            <a:ext cx="530352" cy="530352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507224" y="1664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233172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85432" y="29077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Measure the Impact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885432" y="3310128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Faster delivery, fewer context switches, and secure handling of sensitive developer data.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47472" y="4681728"/>
            <a:ext cx="8430768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47472" y="4681728"/>
            <a:ext cx="8430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🌐  mydevtools.com  —  Open Source, MIT Licensed, Self-Hostable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5029200" cy="5029200"/>
          </a:xfrm>
          <a:prstGeom prst="ellipse">
            <a:avLst/>
          </a:prstGeom>
          <a:solidFill>
            <a:srgbClr val="2E3F8F">
              <a:alpha val="45000"/>
            </a:srgbClr>
          </a:solidFill>
          <a:ln w="12700">
            <a:solidFill>
              <a:srgbClr val="2E3F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0077B6">
              <a:alpha val="35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5029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1704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</a:rPr>
              <a:t>The Takeaway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173736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Switching.</a:t>
            </a:r>
            <a:endParaRPr lang="en-US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Delivering.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6E8FF"/>
                </a:solidFill>
              </a:rPr>
              <a:t>mydevtools consolidates 90 developer tools into a single, secure, offline-capable workspace — eliminating the hidden tax of fragmented tooling and giving your engineers the focused environment they deserve.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4206240"/>
            <a:ext cx="2377440" cy="530352"/>
          </a:xfrm>
          <a:prstGeom prst="roundRect">
            <a:avLst>
              <a:gd name="adj" fmla="val 10345"/>
            </a:avLst>
          </a:prstGeom>
          <a:solidFill>
            <a:srgbClr val="2E3F8F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2062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One URL. Zero setup.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64992" y="4206240"/>
            <a:ext cx="2377440" cy="530352"/>
          </a:xfrm>
          <a:prstGeom prst="roundRect">
            <a:avLst>
              <a:gd name="adj" fmla="val 10345"/>
            </a:avLst>
          </a:prstGeom>
          <a:solidFill>
            <a:srgbClr val="2E3F8F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64992" y="42062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90 tools. One tab.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89904" y="4206240"/>
            <a:ext cx="2377440" cy="530352"/>
          </a:xfrm>
          <a:prstGeom prst="roundRect">
            <a:avLst>
              <a:gd name="adj" fmla="val 10345"/>
            </a:avLst>
          </a:prstGeom>
          <a:solidFill>
            <a:srgbClr val="2E3F8F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9904" y="42062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Your data. Your browser.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6E8FF"/>
                </a:solidFill>
              </a:rPr>
              <a:t>mydevtools.com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mydevtools — SLT Presentation</dc:title>
  <dc:subject>PptxGenJS Presentation</dc:subject>
  <dc:creator>mydevtools</dc:creator>
  <cp:lastModifiedBy>mydevtools</cp:lastModifiedBy>
  <cp:revision>1</cp:revision>
  <dcterms:created xsi:type="dcterms:W3CDTF">2026-05-03T18:12:37Z</dcterms:created>
  <dcterms:modified xsi:type="dcterms:W3CDTF">2026-05-03T18:12:37Z</dcterms:modified>
</cp:coreProperties>
</file>