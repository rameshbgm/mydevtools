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1" r:id="rId5"/>
    <p:sldId id="262" r:id="rId6"/>
    <p:sldId id="263" r:id="rId7"/>
    <p:sldId id="265" r:id="rId8"/>
    <p:sldId id="266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7" d="100"/>
          <a:sy n="167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8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097280"/>
            <a:ext cx="5303520" cy="5303520"/>
          </a:xfrm>
          <a:prstGeom prst="ellipse">
            <a:avLst/>
          </a:prstGeom>
          <a:solidFill>
            <a:srgbClr val="253270">
              <a:alpha val="50000"/>
            </a:srgbClr>
          </a:solidFill>
          <a:ln w="12700">
            <a:solidFill>
              <a:srgbClr val="2532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1645920"/>
            <a:ext cx="3200400" cy="3200400"/>
          </a:xfrm>
          <a:prstGeom prst="ellipse">
            <a:avLst/>
          </a:prstGeom>
          <a:solidFill>
            <a:srgbClr val="0077B6">
              <a:alpha val="30000"/>
            </a:srgbClr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4048" y="502920"/>
            <a:ext cx="2286000" cy="320040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4048" y="502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</a:rPr>
              <a:t>PRODUCT OVERVIEW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84048" y="107899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Workspace.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84048" y="181051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Developer Tool.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84048" y="274320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D6E8FF"/>
                </a:solidFill>
              </a:rPr>
              <a:t>Solving the hidden productivity &amp; security crisis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D6E8FF"/>
                </a:solidFill>
              </a:rPr>
              <a:t>caused by fragmented developer tooling.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" y="3931920"/>
            <a:ext cx="1874520" cy="841248"/>
          </a:xfrm>
          <a:prstGeom prst="rect">
            <a:avLst/>
          </a:prstGeom>
          <a:solidFill>
            <a:srgbClr val="253270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4048" y="3959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90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84048" y="43891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8FF"/>
                </a:solidFill>
              </a:rPr>
              <a:t>Tools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41448" y="3931920"/>
            <a:ext cx="1874520" cy="841248"/>
          </a:xfrm>
          <a:prstGeom prst="rect">
            <a:avLst/>
          </a:prstGeom>
          <a:solidFill>
            <a:srgbClr val="253270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441448" y="3959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13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441448" y="43891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8FF"/>
                </a:solidFill>
              </a:rPr>
              <a:t>Categories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98848" y="3931920"/>
            <a:ext cx="1874520" cy="841248"/>
          </a:xfrm>
          <a:prstGeom prst="rect">
            <a:avLst/>
          </a:prstGeom>
          <a:solidFill>
            <a:srgbClr val="253270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498848" y="3959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100%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498848" y="43891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8FF"/>
                </a:solidFill>
              </a:rPr>
              <a:t>Browser-Side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56248" y="3931920"/>
            <a:ext cx="1874520" cy="841248"/>
          </a:xfrm>
          <a:prstGeom prst="rect">
            <a:avLst/>
          </a:prstGeom>
          <a:solidFill>
            <a:srgbClr val="253270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56248" y="3959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556248" y="43891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8FF"/>
                </a:solidFill>
              </a:rPr>
              <a:t>Data Leaks</a:t>
            </a:r>
            <a:endParaRPr lang="en-US" sz="10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7406640" y="822960"/>
            <a:ext cx="1371600" cy="1371600"/>
          </a:xfrm>
          <a:prstGeom prst="rect">
            <a:avLst/>
          </a:prstGeom>
        </p:spPr>
      </p:pic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7863840" y="256032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EA580C"/>
                </a:solidFill>
              </a:rPr>
              <a:t>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Developer's Day Actually Looks Like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</a:rPr>
              <a:t>Every engineering task sends developers bouncing between a dozen different websites. Each switch burns time and leaks focus.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1168" y="1664208"/>
            <a:ext cx="1627632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01168" y="1664208"/>
            <a:ext cx="162763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</a:rPr>
              <a:t>09:00</a:t>
            </a:r>
            <a:endParaRPr lang="en-US" sz="11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48256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74320" y="263347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456"/>
                </a:solidFill>
              </a:rPr>
              <a:t>Debug an API response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92608" y="3200400"/>
            <a:ext cx="1444752" cy="256032"/>
          </a:xfrm>
          <a:prstGeom prst="rect">
            <a:avLst/>
          </a:prstGeom>
          <a:solidFill>
            <a:srgbClr val="FFF3E0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92608" y="32004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jsonformatter.org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74320" y="3547872"/>
            <a:ext cx="14813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Paste raw JSON, hope the site isn't logging it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956816" y="1664208"/>
            <a:ext cx="1627632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1956816" y="1664208"/>
            <a:ext cx="162763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2029968" y="17373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</a:rPr>
              <a:t>09:18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3744" y="2048256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029968" y="263347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456"/>
                </a:solidFill>
              </a:rPr>
              <a:t>Inspect auth token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2048256" y="3200400"/>
            <a:ext cx="1444752" cy="256032"/>
          </a:xfrm>
          <a:prstGeom prst="rect">
            <a:avLst/>
          </a:prstGeom>
          <a:solidFill>
            <a:srgbClr val="FFF3E0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2048256" y="32004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jwt.io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2029968" y="3547872"/>
            <a:ext cx="14813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Decode the JWT — including user claims data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3712464" y="1664208"/>
            <a:ext cx="1627632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3712464" y="1664208"/>
            <a:ext cx="162763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785616" y="17373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</a:rPr>
              <a:t>09:34</a:t>
            </a:r>
            <a:endParaRPr lang="en-US" sz="110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2048256"/>
            <a:ext cx="502920" cy="50292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785616" y="263347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456"/>
                </a:solidFill>
              </a:rPr>
              <a:t>Check SSL cert expiry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803904" y="3200400"/>
            <a:ext cx="1444752" cy="256032"/>
          </a:xfrm>
          <a:prstGeom prst="rect">
            <a:avLst/>
          </a:prstGeom>
          <a:solidFill>
            <a:srgbClr val="FFF3E0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3803904" y="32004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sslshopper.com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3785616" y="3547872"/>
            <a:ext cx="14813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Enter the domain — site may cache the result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5468112" y="1664208"/>
            <a:ext cx="1627632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5468112" y="1664208"/>
            <a:ext cx="162763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5541264" y="17373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</a:rPr>
              <a:t>09:52</a:t>
            </a:r>
            <a:endParaRPr lang="en-US" sz="110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048256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541264" y="263347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456"/>
                </a:solidFill>
              </a:rPr>
              <a:t>Convert CSV data to JSON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559552" y="3200400"/>
            <a:ext cx="1444752" cy="256032"/>
          </a:xfrm>
          <a:prstGeom prst="rect">
            <a:avLst/>
          </a:prstGeom>
          <a:solidFill>
            <a:srgbClr val="FFF3E0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5559552" y="32004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csvjson.com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5541264" y="3547872"/>
            <a:ext cx="14813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Upload a file containing customer records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7223760" y="1664208"/>
            <a:ext cx="1627632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7223760" y="1664208"/>
            <a:ext cx="162763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/>
          <p:nvPr/>
        </p:nvSpPr>
        <p:spPr>
          <a:xfrm>
            <a:off x="7296912" y="173736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580C"/>
                </a:solidFill>
              </a:rPr>
              <a:t>10:10</a:t>
            </a:r>
            <a:endParaRPr lang="en-US" sz="1100" dirty="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0688" y="2048256"/>
            <a:ext cx="502920" cy="5029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7296912" y="263347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456"/>
                </a:solidFill>
              </a:rPr>
              <a:t>Test a regex pattern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7315200" y="3200400"/>
            <a:ext cx="1444752" cy="256032"/>
          </a:xfrm>
          <a:prstGeom prst="rect">
            <a:avLst/>
          </a:prstGeom>
          <a:solidFill>
            <a:srgbClr val="FFF3E0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7315200" y="32004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regex101.com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7296912" y="3547872"/>
            <a:ext cx="148132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Paste the pattern — 3rd context switch so far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0"/>
          <p:cNvSpPr/>
          <p:nvPr/>
        </p:nvSpPr>
        <p:spPr>
          <a:xfrm>
            <a:off x="365760" y="481888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By 10:15 AM — 5 websites visited, 5 context switches with 5 third-party services. This is every developer. Every day.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DC2626"/>
                </a:solidFill>
              </a:rPr>
              <a:t>SECURITY CONCERNS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Are Unknowingly Leaking Data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6E8FF"/>
                </a:solidFill>
              </a:rPr>
              <a:t>Third-party browser tools are the most overlooked attack surface in engineering organisations.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591056"/>
            <a:ext cx="4133088" cy="1609344"/>
          </a:xfrm>
          <a:prstGeom prst="rect">
            <a:avLst/>
          </a:prstGeom>
          <a:solidFill>
            <a:srgbClr val="1A2456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591056"/>
            <a:ext cx="50292" cy="16093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1719072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41832" y="1700784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JWT Tokens Decoded Online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41832" y="202082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</a:rPr>
              <a:t>Real-world: jwt.io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48056" y="2304288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80" dirty="0">
                <a:solidFill>
                  <a:srgbClr val="D6E8FF"/>
                </a:solidFill>
              </a:rPr>
              <a:t>Developers routinely paste production JWT tokens — containing user IDs, roles, and session data — into public websites to debug auth flows. These tokens can be intercepted, logged, or cached.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4782312" y="1591056"/>
            <a:ext cx="4133088" cy="1609344"/>
          </a:xfrm>
          <a:prstGeom prst="rect">
            <a:avLst/>
          </a:prstGeom>
          <a:solidFill>
            <a:srgbClr val="1A2456"/>
          </a:solidFill>
          <a:ln w="12700">
            <a:solidFill>
              <a:srgbClr val="EA580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82312" y="1591056"/>
            <a:ext cx="50292" cy="160934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719072"/>
            <a:ext cx="402336" cy="40233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04104" y="1700784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Private Keys &amp; Certificates Uploaded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04104" y="202082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A580C"/>
                </a:solidFill>
              </a:rPr>
              <a:t>Real-world: sslshopper.com, sslchecker.com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10328" y="2304288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80" dirty="0">
                <a:solidFill>
                  <a:srgbClr val="D6E8FF"/>
                </a:solidFill>
              </a:rPr>
              <a:t>SSL certificates, private keys, and PKCS#12 bundles are regularly uploaded to online checkers for inspection. A compromised private key can decrypt all past and future traffic.</a:t>
            </a:r>
            <a:endParaRPr lang="en-US" sz="980" dirty="0"/>
          </a:p>
        </p:txBody>
      </p:sp>
      <p:sp>
        <p:nvSpPr>
          <p:cNvPr id="18" name="Shape 14"/>
          <p:cNvSpPr/>
          <p:nvPr/>
        </p:nvSpPr>
        <p:spPr>
          <a:xfrm>
            <a:off x="320040" y="3310128"/>
            <a:ext cx="4133088" cy="1609344"/>
          </a:xfrm>
          <a:prstGeom prst="rect">
            <a:avLst/>
          </a:prstGeom>
          <a:solidFill>
            <a:srgbClr val="1A2456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320040" y="3310128"/>
            <a:ext cx="50292" cy="16093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34381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41832" y="3419856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Customer Data in Format/Convert Tools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941832" y="3739896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Real-world: csvjson.com, jsonformatter.org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48056" y="4023360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80" dirty="0">
                <a:solidFill>
                  <a:srgbClr val="D6E8FF"/>
                </a:solidFill>
              </a:rPr>
              <a:t>Engineers paste CSV exports and JSON payloads — often containing PII, financial records, or internal configs — into ad-supported formatter websites with no data retention policy.</a:t>
            </a:r>
            <a:endParaRPr lang="en-US" sz="980" dirty="0"/>
          </a:p>
        </p:txBody>
      </p:sp>
      <p:sp>
        <p:nvSpPr>
          <p:cNvPr id="24" name="Shape 19"/>
          <p:cNvSpPr/>
          <p:nvPr/>
        </p:nvSpPr>
        <p:spPr>
          <a:xfrm>
            <a:off x="4782312" y="3310128"/>
            <a:ext cx="4133088" cy="1609344"/>
          </a:xfrm>
          <a:prstGeom prst="rect">
            <a:avLst/>
          </a:prstGeom>
          <a:solidFill>
            <a:srgbClr val="1A2456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782312" y="3310128"/>
            <a:ext cx="50292" cy="16093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438144"/>
            <a:ext cx="402336" cy="40233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04104" y="3419856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API Credentials in Request Builders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5404104" y="3739896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</a:rPr>
              <a:t>Real-world: reqbin.com, hoppscotch.io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4910328" y="4023360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80" dirty="0">
                <a:solidFill>
                  <a:srgbClr val="D6E8FF"/>
                </a:solidFill>
              </a:rPr>
              <a:t>API keys, Bearer tokens, and Basic Auth credentials are typed directly into browser-based REST clients. These services route requests through their servers, making them full man-in-the-middle proxies.</a:t>
            </a:r>
            <a:endParaRPr lang="en-US" sz="980" dirty="0"/>
          </a:p>
        </p:txBody>
      </p:sp>
      <p:sp>
        <p:nvSpPr>
          <p:cNvPr id="30" name="Shape 24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" y="484632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4864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GDPR, HIPAA, SOC 2 &amp; ISO 27001 all prohibit processing of sensitive data through unvetted third-party services — yet this happens daily, invisibly.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914400"/>
            <a:ext cx="5029200" cy="5029200"/>
          </a:xfrm>
          <a:prstGeom prst="ellipse">
            <a:avLst/>
          </a:prstGeom>
          <a:solidFill>
            <a:srgbClr val="253270">
              <a:alpha val="45000"/>
            </a:srgbClr>
          </a:solidFill>
          <a:ln w="12700">
            <a:solidFill>
              <a:srgbClr val="2532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1828800"/>
            <a:ext cx="2926080" cy="2926080"/>
          </a:xfrm>
          <a:prstGeom prst="ellipse">
            <a:avLst/>
          </a:prstGeom>
          <a:solidFill>
            <a:srgbClr val="0077B6">
              <a:alpha val="32000"/>
            </a:srgbClr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201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0B981"/>
                </a:solidFill>
              </a:rPr>
              <a:t>THE SOLUTION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" y="530352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mydevtools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84048" y="1243584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D6E8FF"/>
                </a:solidFill>
              </a:rPr>
              <a:t>A single, offline-capable, 100% browser-side developer workspace that replaces every third-party tool — with zero data leaving the device.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7472" y="2084832"/>
            <a:ext cx="457200" cy="457200"/>
          </a:xfrm>
          <a:prstGeom prst="ellipse">
            <a:avLst/>
          </a:prstGeom>
          <a:solidFill>
            <a:srgbClr val="253270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2139696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9264" y="20665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90 tools. One tab.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69264" y="234086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8FF"/>
                </a:solidFill>
              </a:rPr>
              <a:t>Format, validate, encrypt, convert, generate — without ever opening another website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" y="2816352"/>
            <a:ext cx="457200" cy="457200"/>
          </a:xfrm>
          <a:prstGeom prst="ellipse">
            <a:avLst/>
          </a:prstGeom>
          <a:solidFill>
            <a:srgbClr val="253270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2871216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9264" y="279806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Privacy by design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69264" y="30723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8FF"/>
                </a:solidFill>
              </a:rPr>
              <a:t>No server, no API, no logs — data never leaves the browser. Ever.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47472" y="3547872"/>
            <a:ext cx="457200" cy="457200"/>
          </a:xfrm>
          <a:prstGeom prst="ellipse">
            <a:avLst/>
          </a:prstGeom>
          <a:solidFill>
            <a:srgbClr val="253270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3602736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9264" y="3529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Offline-first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9264" y="38039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8FF"/>
                </a:solidFill>
              </a:rPr>
              <a:t>Works with zero internet — on planes, in secure facilities, behind strict firewalls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347472" y="4279392"/>
            <a:ext cx="457200" cy="457200"/>
          </a:xfrm>
          <a:prstGeom prst="ellipse">
            <a:avLst/>
          </a:prstGeom>
          <a:solidFill>
            <a:srgbClr val="253270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4334256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9264" y="42611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Find any tool instantly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969264" y="45354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6E8FF"/>
                </a:solidFill>
              </a:rPr>
              <a:t>⌘K command palette — any tool in two keystrokes, no navigation required</a:t>
            </a:r>
            <a:endParaRPr lang="en-US" sz="11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7315200" y="14630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B4D8"/>
                </a:solidFill>
              </a:rPr>
              <a:t>TOOLS IN ACTION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mydevtools Replaces — With Zero Risk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5214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Each row shows an everyday developer task, the risky external tool engineers currently use, and the secure mydevtools alternative.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" y="1572768"/>
            <a:ext cx="1828800" cy="329184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92608" y="15727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Developer Task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6272" y="1572768"/>
            <a:ext cx="260604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76272" y="157276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Tool Used Today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28032" y="1572768"/>
            <a:ext cx="1664208" cy="329184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28032" y="157276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Risk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37960" y="1572768"/>
            <a:ext cx="2304288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37960" y="1572768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mydevtools Alternative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" y="1956816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176272" y="1956816"/>
            <a:ext cx="2606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28032" y="1956816"/>
            <a:ext cx="166420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537960" y="1956816"/>
            <a:ext cx="230428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7472" y="20025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Decode &amp; debug JWT tokens</a:t>
            </a:r>
            <a:endParaRPr lang="en-US" sz="95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2029968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2468880" y="20025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jwt.io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864608" y="2020824"/>
            <a:ext cx="1591056" cy="219456"/>
          </a:xfrm>
          <a:prstGeom prst="rect">
            <a:avLst/>
          </a:prstGeom>
          <a:solidFill>
            <a:srgbClr val="DC2626">
              <a:alpha val="12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64608" y="202082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Token leakage</a:t>
            </a:r>
            <a:endParaRPr lang="en-US" sz="90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029968"/>
            <a:ext cx="201168" cy="20116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821424" y="200253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JWT Decoder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292608" y="2322576"/>
            <a:ext cx="182880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2176272" y="2322576"/>
            <a:ext cx="260604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4828032" y="2322576"/>
            <a:ext cx="166420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537960" y="2322576"/>
            <a:ext cx="230428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347472" y="23682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Format &amp; validate JSON</a:t>
            </a:r>
            <a:endParaRPr lang="en-US" sz="950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2395728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2468880" y="236829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jsonformatter.org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4864608" y="2386584"/>
            <a:ext cx="1591056" cy="219456"/>
          </a:xfrm>
          <a:prstGeom prst="rect">
            <a:avLst/>
          </a:prstGeom>
          <a:solidFill>
            <a:srgbClr val="DC2626">
              <a:alpha val="12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4864608" y="238658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Data logging</a:t>
            </a:r>
            <a:endParaRPr lang="en-US" sz="900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395728"/>
            <a:ext cx="201168" cy="201168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821424" y="236829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JSON Formatter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292608" y="2688336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2176272" y="2688336"/>
            <a:ext cx="2606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4828032" y="2688336"/>
            <a:ext cx="166420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6537960" y="2688336"/>
            <a:ext cx="230428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/>
          <p:nvPr/>
        </p:nvSpPr>
        <p:spPr>
          <a:xfrm>
            <a:off x="347472" y="27340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Inspect SSL certificate</a:t>
            </a:r>
            <a:endParaRPr lang="en-US" sz="950" dirty="0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2761488"/>
            <a:ext cx="201168" cy="201168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2468880" y="273405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sslshopper.com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4864608" y="2752344"/>
            <a:ext cx="1591056" cy="219456"/>
          </a:xfrm>
          <a:prstGeom prst="rect">
            <a:avLst/>
          </a:prstGeom>
          <a:solidFill>
            <a:srgbClr val="EA580C">
              <a:alpha val="12000"/>
            </a:srgbClr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4864608" y="275234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Key exposure</a:t>
            </a:r>
            <a:endParaRPr lang="en-US" sz="900" dirty="0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761488"/>
            <a:ext cx="201168" cy="201168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6821424" y="273405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X.509 Decoder</a:t>
            </a:r>
            <a:endParaRPr lang="en-US" sz="950" dirty="0"/>
          </a:p>
        </p:txBody>
      </p:sp>
      <p:sp>
        <p:nvSpPr>
          <p:cNvPr id="47" name="Shape 39"/>
          <p:cNvSpPr/>
          <p:nvPr/>
        </p:nvSpPr>
        <p:spPr>
          <a:xfrm>
            <a:off x="292608" y="3054096"/>
            <a:ext cx="182880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0"/>
          <p:cNvSpPr/>
          <p:nvPr/>
        </p:nvSpPr>
        <p:spPr>
          <a:xfrm>
            <a:off x="2176272" y="3054096"/>
            <a:ext cx="260604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1"/>
          <p:cNvSpPr/>
          <p:nvPr/>
        </p:nvSpPr>
        <p:spPr>
          <a:xfrm>
            <a:off x="4828032" y="3054096"/>
            <a:ext cx="166420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2"/>
          <p:cNvSpPr/>
          <p:nvPr/>
        </p:nvSpPr>
        <p:spPr>
          <a:xfrm>
            <a:off x="6537960" y="3054096"/>
            <a:ext cx="230428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347472" y="309981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Encode / decode Base64</a:t>
            </a:r>
            <a:endParaRPr lang="en-US" sz="95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3127248"/>
            <a:ext cx="201168" cy="201168"/>
          </a:xfrm>
          <a:prstGeom prst="rect">
            <a:avLst/>
          </a:prstGeom>
        </p:spPr>
      </p:pic>
      <p:sp>
        <p:nvSpPr>
          <p:cNvPr id="53" name="Text 44"/>
          <p:cNvSpPr/>
          <p:nvPr/>
        </p:nvSpPr>
        <p:spPr>
          <a:xfrm>
            <a:off x="2468880" y="309981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base64decode.org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4864608" y="3118104"/>
            <a:ext cx="1591056" cy="219456"/>
          </a:xfrm>
          <a:prstGeom prst="rect">
            <a:avLst/>
          </a:prstGeom>
          <a:solidFill>
            <a:srgbClr val="EA580C">
              <a:alpha val="12000"/>
            </a:srgbClr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6"/>
          <p:cNvSpPr/>
          <p:nvPr/>
        </p:nvSpPr>
        <p:spPr>
          <a:xfrm>
            <a:off x="4864608" y="311810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580C"/>
                </a:solidFill>
              </a:rPr>
              <a:t>Data in transit</a:t>
            </a:r>
            <a:endParaRPr lang="en-US" sz="900" dirty="0"/>
          </a:p>
        </p:txBody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3127248"/>
            <a:ext cx="201168" cy="201168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6821424" y="309981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Base64 Encoder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92608" y="3419856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49"/>
          <p:cNvSpPr/>
          <p:nvPr/>
        </p:nvSpPr>
        <p:spPr>
          <a:xfrm>
            <a:off x="2176272" y="3419856"/>
            <a:ext cx="2606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0"/>
          <p:cNvSpPr/>
          <p:nvPr/>
        </p:nvSpPr>
        <p:spPr>
          <a:xfrm>
            <a:off x="4828032" y="3419856"/>
            <a:ext cx="166420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1"/>
          <p:cNvSpPr/>
          <p:nvPr/>
        </p:nvSpPr>
        <p:spPr>
          <a:xfrm>
            <a:off x="6537960" y="3419856"/>
            <a:ext cx="230428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2"/>
          <p:cNvSpPr/>
          <p:nvPr/>
        </p:nvSpPr>
        <p:spPr>
          <a:xfrm>
            <a:off x="347472" y="346557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Convert CSV → JSON</a:t>
            </a:r>
            <a:endParaRPr lang="en-US" sz="950" dirty="0"/>
          </a:p>
        </p:txBody>
      </p:sp>
      <p:pic>
        <p:nvPicPr>
          <p:cNvPr id="63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3493008"/>
            <a:ext cx="201168" cy="201168"/>
          </a:xfrm>
          <a:prstGeom prst="rect">
            <a:avLst/>
          </a:prstGeom>
        </p:spPr>
      </p:pic>
      <p:sp>
        <p:nvSpPr>
          <p:cNvPr id="64" name="Text 53"/>
          <p:cNvSpPr/>
          <p:nvPr/>
        </p:nvSpPr>
        <p:spPr>
          <a:xfrm>
            <a:off x="2468880" y="346557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csvjson.com</a:t>
            </a:r>
            <a:endParaRPr lang="en-US" sz="950" dirty="0"/>
          </a:p>
        </p:txBody>
      </p:sp>
      <p:sp>
        <p:nvSpPr>
          <p:cNvPr id="65" name="Shape 54"/>
          <p:cNvSpPr/>
          <p:nvPr/>
        </p:nvSpPr>
        <p:spPr>
          <a:xfrm>
            <a:off x="4864608" y="3483864"/>
            <a:ext cx="1591056" cy="219456"/>
          </a:xfrm>
          <a:prstGeom prst="rect">
            <a:avLst/>
          </a:prstGeom>
          <a:solidFill>
            <a:srgbClr val="DC2626">
              <a:alpha val="12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5"/>
          <p:cNvSpPr/>
          <p:nvPr/>
        </p:nvSpPr>
        <p:spPr>
          <a:xfrm>
            <a:off x="4864608" y="348386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PII upload</a:t>
            </a:r>
            <a:endParaRPr lang="en-US" sz="900" dirty="0"/>
          </a:p>
        </p:txBody>
      </p:sp>
      <p:pic>
        <p:nvPicPr>
          <p:cNvPr id="6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3493008"/>
            <a:ext cx="201168" cy="201168"/>
          </a:xfrm>
          <a:prstGeom prst="rect">
            <a:avLst/>
          </a:prstGeom>
        </p:spPr>
      </p:pic>
      <p:sp>
        <p:nvSpPr>
          <p:cNvPr id="68" name="Text 56"/>
          <p:cNvSpPr/>
          <p:nvPr/>
        </p:nvSpPr>
        <p:spPr>
          <a:xfrm>
            <a:off x="6821424" y="346557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CSV → JSON Converter</a:t>
            </a:r>
            <a:endParaRPr lang="en-US" sz="950" dirty="0"/>
          </a:p>
        </p:txBody>
      </p:sp>
      <p:sp>
        <p:nvSpPr>
          <p:cNvPr id="69" name="Shape 57"/>
          <p:cNvSpPr/>
          <p:nvPr/>
        </p:nvSpPr>
        <p:spPr>
          <a:xfrm>
            <a:off x="292608" y="3785616"/>
            <a:ext cx="182880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58"/>
          <p:cNvSpPr/>
          <p:nvPr/>
        </p:nvSpPr>
        <p:spPr>
          <a:xfrm>
            <a:off x="2176272" y="3785616"/>
            <a:ext cx="260604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59"/>
          <p:cNvSpPr/>
          <p:nvPr/>
        </p:nvSpPr>
        <p:spPr>
          <a:xfrm>
            <a:off x="4828032" y="3785616"/>
            <a:ext cx="166420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0"/>
          <p:cNvSpPr/>
          <p:nvPr/>
        </p:nvSpPr>
        <p:spPr>
          <a:xfrm>
            <a:off x="6537960" y="3785616"/>
            <a:ext cx="230428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61"/>
          <p:cNvSpPr/>
          <p:nvPr/>
        </p:nvSpPr>
        <p:spPr>
          <a:xfrm>
            <a:off x="347472" y="38313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Test REST API calls</a:t>
            </a:r>
            <a:endParaRPr lang="en-US" sz="950" dirty="0"/>
          </a:p>
        </p:txBody>
      </p:sp>
      <p:pic>
        <p:nvPicPr>
          <p:cNvPr id="74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3858768"/>
            <a:ext cx="201168" cy="201168"/>
          </a:xfrm>
          <a:prstGeom prst="rect">
            <a:avLst/>
          </a:prstGeom>
        </p:spPr>
      </p:pic>
      <p:sp>
        <p:nvSpPr>
          <p:cNvPr id="75" name="Text 62"/>
          <p:cNvSpPr/>
          <p:nvPr/>
        </p:nvSpPr>
        <p:spPr>
          <a:xfrm>
            <a:off x="2468880" y="3831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reqbin.com</a:t>
            </a:r>
            <a:endParaRPr lang="en-US" sz="950" dirty="0"/>
          </a:p>
        </p:txBody>
      </p:sp>
      <p:sp>
        <p:nvSpPr>
          <p:cNvPr id="76" name="Shape 63"/>
          <p:cNvSpPr/>
          <p:nvPr/>
        </p:nvSpPr>
        <p:spPr>
          <a:xfrm>
            <a:off x="4864608" y="3849624"/>
            <a:ext cx="1591056" cy="219456"/>
          </a:xfrm>
          <a:prstGeom prst="rect">
            <a:avLst/>
          </a:prstGeom>
          <a:solidFill>
            <a:srgbClr val="DC2626">
              <a:alpha val="12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64"/>
          <p:cNvSpPr/>
          <p:nvPr/>
        </p:nvSpPr>
        <p:spPr>
          <a:xfrm>
            <a:off x="4864608" y="384962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Proxy intercept</a:t>
            </a:r>
            <a:endParaRPr lang="en-US" sz="900" dirty="0"/>
          </a:p>
        </p:txBody>
      </p:sp>
      <p:pic>
        <p:nvPicPr>
          <p:cNvPr id="78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3858768"/>
            <a:ext cx="201168" cy="201168"/>
          </a:xfrm>
          <a:prstGeom prst="rect">
            <a:avLst/>
          </a:prstGeom>
        </p:spPr>
      </p:pic>
      <p:sp>
        <p:nvSpPr>
          <p:cNvPr id="79" name="Text 65"/>
          <p:cNvSpPr/>
          <p:nvPr/>
        </p:nvSpPr>
        <p:spPr>
          <a:xfrm>
            <a:off x="6821424" y="383133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REST Request Builder</a:t>
            </a:r>
            <a:endParaRPr lang="en-US" sz="950" dirty="0"/>
          </a:p>
        </p:txBody>
      </p:sp>
      <p:sp>
        <p:nvSpPr>
          <p:cNvPr id="80" name="Shape 66"/>
          <p:cNvSpPr/>
          <p:nvPr/>
        </p:nvSpPr>
        <p:spPr>
          <a:xfrm>
            <a:off x="292608" y="4151376"/>
            <a:ext cx="18288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67"/>
          <p:cNvSpPr/>
          <p:nvPr/>
        </p:nvSpPr>
        <p:spPr>
          <a:xfrm>
            <a:off x="2176272" y="4151376"/>
            <a:ext cx="26060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68"/>
          <p:cNvSpPr/>
          <p:nvPr/>
        </p:nvSpPr>
        <p:spPr>
          <a:xfrm>
            <a:off x="4828032" y="4151376"/>
            <a:ext cx="166420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69"/>
          <p:cNvSpPr/>
          <p:nvPr/>
        </p:nvSpPr>
        <p:spPr>
          <a:xfrm>
            <a:off x="6537960" y="4151376"/>
            <a:ext cx="2304288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0"/>
          <p:cNvSpPr/>
          <p:nvPr/>
        </p:nvSpPr>
        <p:spPr>
          <a:xfrm>
            <a:off x="347472" y="419709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Parse &amp; validate Regex</a:t>
            </a:r>
            <a:endParaRPr lang="en-US" sz="950" dirty="0"/>
          </a:p>
        </p:txBody>
      </p:sp>
      <p:pic>
        <p:nvPicPr>
          <p:cNvPr id="85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4224528"/>
            <a:ext cx="201168" cy="201168"/>
          </a:xfrm>
          <a:prstGeom prst="rect">
            <a:avLst/>
          </a:prstGeom>
        </p:spPr>
      </p:pic>
      <p:sp>
        <p:nvSpPr>
          <p:cNvPr id="86" name="Text 71"/>
          <p:cNvSpPr/>
          <p:nvPr/>
        </p:nvSpPr>
        <p:spPr>
          <a:xfrm>
            <a:off x="2468880" y="419709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regex101.com</a:t>
            </a:r>
            <a:endParaRPr lang="en-US" sz="950" dirty="0"/>
          </a:p>
        </p:txBody>
      </p:sp>
      <p:sp>
        <p:nvSpPr>
          <p:cNvPr id="87" name="Shape 72"/>
          <p:cNvSpPr/>
          <p:nvPr/>
        </p:nvSpPr>
        <p:spPr>
          <a:xfrm>
            <a:off x="4864608" y="4215384"/>
            <a:ext cx="159105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73"/>
          <p:cNvSpPr/>
          <p:nvPr/>
        </p:nvSpPr>
        <p:spPr>
          <a:xfrm>
            <a:off x="4864608" y="421538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Pattern logging</a:t>
            </a:r>
            <a:endParaRPr lang="en-US" sz="90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224528"/>
            <a:ext cx="201168" cy="201168"/>
          </a:xfrm>
          <a:prstGeom prst="rect">
            <a:avLst/>
          </a:prstGeom>
        </p:spPr>
      </p:pic>
      <p:sp>
        <p:nvSpPr>
          <p:cNvPr id="90" name="Text 74"/>
          <p:cNvSpPr/>
          <p:nvPr/>
        </p:nvSpPr>
        <p:spPr>
          <a:xfrm>
            <a:off x="6821424" y="419709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Regex Validator</a:t>
            </a:r>
            <a:endParaRPr lang="en-US" sz="950" dirty="0"/>
          </a:p>
        </p:txBody>
      </p:sp>
      <p:sp>
        <p:nvSpPr>
          <p:cNvPr id="91" name="Shape 75"/>
          <p:cNvSpPr/>
          <p:nvPr/>
        </p:nvSpPr>
        <p:spPr>
          <a:xfrm>
            <a:off x="292608" y="4517136"/>
            <a:ext cx="182880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76"/>
          <p:cNvSpPr/>
          <p:nvPr/>
        </p:nvSpPr>
        <p:spPr>
          <a:xfrm>
            <a:off x="2176272" y="4517136"/>
            <a:ext cx="2606040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77"/>
          <p:cNvSpPr/>
          <p:nvPr/>
        </p:nvSpPr>
        <p:spPr>
          <a:xfrm>
            <a:off x="4828032" y="4517136"/>
            <a:ext cx="166420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78"/>
          <p:cNvSpPr/>
          <p:nvPr/>
        </p:nvSpPr>
        <p:spPr>
          <a:xfrm>
            <a:off x="6537960" y="4517136"/>
            <a:ext cx="2304288" cy="347472"/>
          </a:xfrm>
          <a:prstGeom prst="rect">
            <a:avLst/>
          </a:prstGeom>
          <a:solidFill>
            <a:srgbClr val="F5F8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79"/>
          <p:cNvSpPr/>
          <p:nvPr/>
        </p:nvSpPr>
        <p:spPr>
          <a:xfrm>
            <a:off x="347472" y="45628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Generate UUIDs / passwords</a:t>
            </a:r>
            <a:endParaRPr lang="en-US" sz="950" dirty="0"/>
          </a:p>
        </p:txBody>
      </p:sp>
      <p:pic>
        <p:nvPicPr>
          <p:cNvPr id="96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4590288"/>
            <a:ext cx="201168" cy="201168"/>
          </a:xfrm>
          <a:prstGeom prst="rect">
            <a:avLst/>
          </a:prstGeom>
        </p:spPr>
      </p:pic>
      <p:sp>
        <p:nvSpPr>
          <p:cNvPr id="97" name="Text 80"/>
          <p:cNvSpPr/>
          <p:nvPr/>
        </p:nvSpPr>
        <p:spPr>
          <a:xfrm>
            <a:off x="2468880" y="456285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uuidgenerator.net</a:t>
            </a:r>
            <a:endParaRPr lang="en-US" sz="950" dirty="0"/>
          </a:p>
        </p:txBody>
      </p:sp>
      <p:sp>
        <p:nvSpPr>
          <p:cNvPr id="98" name="Shape 81"/>
          <p:cNvSpPr/>
          <p:nvPr/>
        </p:nvSpPr>
        <p:spPr>
          <a:xfrm>
            <a:off x="4864608" y="4581144"/>
            <a:ext cx="159105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82"/>
          <p:cNvSpPr/>
          <p:nvPr/>
        </p:nvSpPr>
        <p:spPr>
          <a:xfrm>
            <a:off x="4864608" y="458114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Predictability</a:t>
            </a:r>
            <a:endParaRPr lang="en-US" sz="900" dirty="0"/>
          </a:p>
        </p:txBody>
      </p:sp>
      <p:pic>
        <p:nvPicPr>
          <p:cNvPr id="10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590288"/>
            <a:ext cx="201168" cy="201168"/>
          </a:xfrm>
          <a:prstGeom prst="rect">
            <a:avLst/>
          </a:prstGeom>
        </p:spPr>
      </p:pic>
      <p:sp>
        <p:nvSpPr>
          <p:cNvPr id="101" name="Text 83"/>
          <p:cNvSpPr/>
          <p:nvPr/>
        </p:nvSpPr>
        <p:spPr>
          <a:xfrm>
            <a:off x="6821424" y="456285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UUID / Password Gen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B4D8"/>
                </a:solidFill>
              </a:rPr>
              <a:t>FULL 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9377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Categories. 90 Tools. One Workspace.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01168" y="1188720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01168" y="1188720"/>
            <a:ext cx="50292" cy="76809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81328" y="1261872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81328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10896" y="12801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" y="1609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JSON · XML · SQL · YAML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1929384" y="1188720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29384" y="1188720"/>
            <a:ext cx="50292" cy="76809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9544" y="1261872"/>
            <a:ext cx="310896" cy="31089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9544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39112" y="12801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39112" y="1609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JSON · Regex · Credit Card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0" y="1188720"/>
            <a:ext cx="50292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937760" y="1261872"/>
            <a:ext cx="310896" cy="310896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3776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67328" y="12801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&amp; Compare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67328" y="1609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JSON · XML · Text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5385816" y="1188720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385816" y="1188720"/>
            <a:ext cx="50292" cy="76809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65976" y="1261872"/>
            <a:ext cx="310896" cy="31089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65976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95544" y="12801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Converters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95544" y="1609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XML↔JSON · CSV→JSON · XSLT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7114032" y="1188720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114032" y="1188720"/>
            <a:ext cx="50292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394192" y="1261872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394192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23760" y="128016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&amp; Decoding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223760" y="1609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Base64 · URL · Gzip · Hex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201168" y="2020824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01168" y="2020824"/>
            <a:ext cx="50292" cy="7680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481328" y="2093976"/>
            <a:ext cx="310896" cy="31089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481328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10896" y="2112264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10896" y="2441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Hash · HMAC · JWT · AES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1929384" y="2020824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929384" y="2020824"/>
            <a:ext cx="50292" cy="76809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209544" y="2093976"/>
            <a:ext cx="310896" cy="310896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209544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039112" y="2112264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&amp; Keys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039112" y="2441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X.509 · PEM · SSH · SSL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3657600" y="2020824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657600" y="2020824"/>
            <a:ext cx="50292" cy="768096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937760" y="2093976"/>
            <a:ext cx="310896" cy="310896"/>
          </a:xfrm>
          <a:prstGeom prst="ellipse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937760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767328" y="2112264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Web Services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767328" y="2441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Swagger · REST · SOAP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5385816" y="2020824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85816" y="2020824"/>
            <a:ext cx="50292" cy="76809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665976" y="2093976"/>
            <a:ext cx="310896" cy="310896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665976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495544" y="2112264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95544" y="2441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IP Tools · Subnet · MAC</a:t>
            </a:r>
            <a:endParaRPr lang="en-US" sz="880" dirty="0"/>
          </a:p>
        </p:txBody>
      </p:sp>
      <p:sp>
        <p:nvSpPr>
          <p:cNvPr id="58" name="Shape 56"/>
          <p:cNvSpPr/>
          <p:nvPr/>
        </p:nvSpPr>
        <p:spPr>
          <a:xfrm>
            <a:off x="7114032" y="2020824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114032" y="2020824"/>
            <a:ext cx="50292" cy="76809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394192" y="2093976"/>
            <a:ext cx="310896" cy="31089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394192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9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223760" y="2112264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223760" y="2441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UUID · Password · QR · Slug</a:t>
            </a:r>
            <a:endParaRPr lang="en-US" sz="880" dirty="0"/>
          </a:p>
        </p:txBody>
      </p:sp>
      <p:sp>
        <p:nvSpPr>
          <p:cNvPr id="64" name="Shape 62"/>
          <p:cNvSpPr/>
          <p:nvPr/>
        </p:nvSpPr>
        <p:spPr>
          <a:xfrm>
            <a:off x="201168" y="2852928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01168" y="2852928"/>
            <a:ext cx="50292" cy="768096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1481328" y="2926080"/>
            <a:ext cx="310896" cy="310896"/>
          </a:xfrm>
          <a:prstGeom prst="ellipse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1481328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11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310896" y="294436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&amp; Utilities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310896" y="3273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Markdown · Cron · Timestamp</a:t>
            </a:r>
            <a:endParaRPr lang="en-US" sz="880" dirty="0"/>
          </a:p>
        </p:txBody>
      </p:sp>
      <p:sp>
        <p:nvSpPr>
          <p:cNvPr id="70" name="Shape 68"/>
          <p:cNvSpPr/>
          <p:nvPr/>
        </p:nvSpPr>
        <p:spPr>
          <a:xfrm>
            <a:off x="1929384" y="2852928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929384" y="2852928"/>
            <a:ext cx="50292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209544" y="2926080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3209544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2039112" y="294436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Alpha Tools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2039112" y="3273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RAG Q&amp;A · Summariser · Code</a:t>
            </a:r>
            <a:endParaRPr lang="en-US" sz="880" dirty="0"/>
          </a:p>
        </p:txBody>
      </p:sp>
      <p:sp>
        <p:nvSpPr>
          <p:cNvPr id="76" name="Shape 74"/>
          <p:cNvSpPr/>
          <p:nvPr/>
        </p:nvSpPr>
        <p:spPr>
          <a:xfrm>
            <a:off x="3657600" y="2852928"/>
            <a:ext cx="1664208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3657600" y="2852928"/>
            <a:ext cx="50292" cy="76809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937760" y="2926080"/>
            <a:ext cx="310896" cy="310896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93776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3767328" y="294436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3767328" y="32735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HTTP Codes · MIME · Ports</a:t>
            </a:r>
            <a:endParaRPr lang="en-US" sz="8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0B4D8"/>
                </a:solidFill>
              </a:rPr>
              <a:t>HOW TO GET STARTED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Access. Zero Procurement Friction.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No installation. No licences. No IT ticket. Available right now at mydevtools.com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572768"/>
            <a:ext cx="197510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42416" y="1682496"/>
            <a:ext cx="530352" cy="530352"/>
          </a:xfrm>
          <a:prstGeom prst="ellipse">
            <a:avLst/>
          </a:prstGeom>
          <a:solidFill>
            <a:srgbClr val="1A2456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42416" y="16824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23317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28895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456"/>
                </a:solidFill>
              </a:rPr>
              <a:t>Open Browser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2918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Visit mydevtools.com from any device — Chrome, Safari, Edge, Firefox. Loads in under 2 seconds.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468880" y="1572768"/>
            <a:ext cx="197510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191256" y="1682496"/>
            <a:ext cx="530352" cy="530352"/>
          </a:xfrm>
          <a:prstGeom prst="ellipse">
            <a:avLst/>
          </a:prstGeom>
          <a:solidFill>
            <a:srgbClr val="1A2456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191256" y="16824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23317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60320" y="28895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456"/>
                </a:solidFill>
              </a:rPr>
              <a:t>Install as App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560320" y="32918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One tap to install as a PWA. Works on desktop, tablet and mobile — even fully offline afterwards.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617720" y="1572768"/>
            <a:ext cx="197510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340096" y="1682496"/>
            <a:ext cx="530352" cy="530352"/>
          </a:xfrm>
          <a:prstGeom prst="ellipse">
            <a:avLst/>
          </a:prstGeom>
          <a:solidFill>
            <a:srgbClr val="1A2456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340096" y="16824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2" y="233172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09160" y="28895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456"/>
                </a:solidFill>
              </a:rPr>
              <a:t>Find Any Tool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709160" y="32918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Press ⌘K and type. Any of the 90 tools appears instantly. No menus, no scrolling.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766560" y="1572768"/>
            <a:ext cx="197510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7488936" y="1682496"/>
            <a:ext cx="530352" cy="530352"/>
          </a:xfrm>
          <a:prstGeom prst="ellipse">
            <a:avLst/>
          </a:prstGeom>
          <a:solidFill>
            <a:srgbClr val="1A2456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7488936" y="16824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2331720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58000" y="28895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456"/>
                </a:solidFill>
              </a:rPr>
              <a:t>Measure the Gain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6858000" y="32918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Fewer context switches, sensitive data protected, engineers in full flow — measurable from Day 1.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320040" y="4709160"/>
            <a:ext cx="8503920" cy="347472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5"/>
          <p:cNvSpPr/>
          <p:nvPr/>
        </p:nvSpPr>
        <p:spPr>
          <a:xfrm>
            <a:off x="320040" y="470916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🌐  mydevtools.com  ·  Open Source  ·  MIT Licensed  ·  Self-Hostable on your own infrastructure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2926080"/>
            <a:ext cx="5029200" cy="5029200"/>
          </a:xfrm>
          <a:prstGeom prst="ellipse">
            <a:avLst/>
          </a:prstGeom>
          <a:solidFill>
            <a:srgbClr val="253270">
              <a:alpha val="45000"/>
            </a:srgbClr>
          </a:solidFill>
          <a:ln w="12700">
            <a:solidFill>
              <a:srgbClr val="2532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077B6">
              <a:alpha val="35000"/>
            </a:srgbClr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5029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17043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B4D8"/>
                </a:solidFill>
              </a:rPr>
              <a:t>The Takeaway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164592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Switching.</a:t>
            </a:r>
            <a:endParaRPr lang="en-US" sz="44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Delivering.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50" dirty="0">
                <a:solidFill>
                  <a:srgbClr val="D6E8FF"/>
                </a:solidFill>
              </a:rPr>
              <a:t>mydevtools closes the gap between developer intent and action — replacing a fragmented, insecure patchwork of third-party sites with one unified, private, always-available workspace.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4187952"/>
            <a:ext cx="2359152" cy="530352"/>
          </a:xfrm>
          <a:prstGeom prst="rect">
            <a:avLst/>
          </a:prstGeom>
          <a:solidFill>
            <a:srgbClr val="253270"/>
          </a:solidFill>
          <a:ln w="1524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58368" y="418795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One URL. Zero setup.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4187952"/>
            <a:ext cx="2359152" cy="530352"/>
          </a:xfrm>
          <a:prstGeom prst="rect">
            <a:avLst/>
          </a:prstGeom>
          <a:solidFill>
            <a:srgbClr val="253270"/>
          </a:solidFill>
          <a:ln w="1524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383280" y="418795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90 tools. One tab.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08192" y="4187952"/>
            <a:ext cx="2359152" cy="530352"/>
          </a:xfrm>
          <a:prstGeom prst="rect">
            <a:avLst/>
          </a:prstGeom>
          <a:solidFill>
            <a:srgbClr val="253270"/>
          </a:solidFill>
          <a:ln w="1524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108192" y="418795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Your data. Your browser.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4846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D6E8FF"/>
                </a:solidFill>
              </a:rPr>
              <a:t>mydevtools.com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976</Words>
  <Application>Microsoft Macintosh PowerPoint</Application>
  <PresentationFormat>On-screen Show (16:9)</PresentationFormat>
  <Paragraphs>176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mydevtools — SLT Presentation</dc:title>
  <dc:subject>PptxGenJS Presentation</dc:subject>
  <dc:creator>mydevtools</dc:creator>
  <cp:lastModifiedBy>Yankamma Alli</cp:lastModifiedBy>
  <cp:revision>2</cp:revision>
  <dcterms:created xsi:type="dcterms:W3CDTF">2026-05-03T23:33:48Z</dcterms:created>
  <dcterms:modified xsi:type="dcterms:W3CDTF">2026-05-04T00:44:08Z</dcterms:modified>
</cp:coreProperties>
</file>